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7DAB66-CFA2-93DA-6AE9-A511C59964CB}" v="633" dt="2025-12-22T22:03:22.214"/>
    <p1510:client id="{FFF47B4D-9F1E-944E-AB02-6FD6BABC2D8A}" v="38" dt="2025-12-22T21:20:32.45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47" d="100"/>
          <a:sy n="147" d="100"/>
        </p:scale>
        <p:origin x="300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E8B1D5D-793D-9782-177F-00CAF2311F65}"/>
              </a:ext>
            </a:extLst>
          </p:cNvPr>
          <p:cNvSpPr txBox="1"/>
          <p:nvPr/>
        </p:nvSpPr>
        <p:spPr>
          <a:xfrm>
            <a:off x="2577063" y="80934"/>
            <a:ext cx="7146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>
                <a:latin typeface="Aharoni" panose="02010803020104030203" pitchFamily="2" charset="-79"/>
                <a:cs typeface="Aharoni" panose="02010803020104030203" pitchFamily="2" charset="-79"/>
              </a:rPr>
              <a:t>PRELIMINARY RISK &amp; SECURITY LOG</a:t>
            </a:r>
            <a:endParaRPr lang="en-US" sz="3200" b="1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0DCDC08-B795-91DB-B986-31643B05B5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880405"/>
              </p:ext>
            </p:extLst>
          </p:nvPr>
        </p:nvGraphicFramePr>
        <p:xfrm>
          <a:off x="1349828" y="2985738"/>
          <a:ext cx="9601200" cy="22860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401160253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386779353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89328941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Score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Likelihood (1-5)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Impact (1-5)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5918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1-4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Low:</a:t>
                      </a:r>
                      <a:r>
                        <a:rPr lang="en-GB">
                          <a:effectLst/>
                          <a:latin typeface="Google Sans Text"/>
                        </a:rPr>
                        <a:t> Keep under review.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Minor:</a:t>
                      </a:r>
                      <a:r>
                        <a:rPr lang="en-GB">
                          <a:effectLst/>
                          <a:latin typeface="Google Sans Text"/>
                        </a:rPr>
                        <a:t> Inconvenient but not critical.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20747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5-12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Medium:</a:t>
                      </a:r>
                      <a:r>
                        <a:rPr lang="en-GB">
                          <a:effectLst/>
                          <a:latin typeface="Google Sans Text"/>
                        </a:rPr>
                        <a:t> Needs a plan.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Moderate:</a:t>
                      </a:r>
                      <a:r>
                        <a:rPr lang="en-GB">
                          <a:effectLst/>
                          <a:latin typeface="Google Sans Text"/>
                        </a:rPr>
                        <a:t> Requires changes to design/code.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028545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15-25</a:t>
                      </a:r>
                      <a:endParaRPr lang="en-GB">
                        <a:effectLst/>
                        <a:latin typeface="Google Sans Text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High/Extreme:</a:t>
                      </a:r>
                      <a:r>
                        <a:rPr lang="en-GB">
                          <a:effectLst/>
                          <a:latin typeface="Google Sans Text"/>
                        </a:rPr>
                        <a:t> Urgent action required.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b="1">
                          <a:effectLst/>
                          <a:latin typeface="Google Sans Text"/>
                        </a:rPr>
                        <a:t>Catastrophic:</a:t>
                      </a:r>
                      <a:r>
                        <a:rPr lang="en-GB">
                          <a:effectLst/>
                          <a:latin typeface="Google Sans Text"/>
                        </a:rPr>
                        <a:t> Project failure / Data Breach.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8030546"/>
                  </a:ext>
                </a:extLst>
              </a:tr>
            </a:tbl>
          </a:graphicData>
        </a:graphic>
      </p:graphicFrame>
      <p:sp>
        <p:nvSpPr>
          <p:cNvPr id="6" name="Rectangle 1">
            <a:extLst>
              <a:ext uri="{FF2B5EF4-FFF2-40B4-BE49-F238E27FC236}">
                <a16:creationId xmlns:a16="http://schemas.microsoft.com/office/drawing/2014/main" id="{029CFE50-2DE0-5BAA-CE28-9F575A010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1771" y="1706008"/>
            <a:ext cx="4528458" cy="6155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PART 1: RISK ASSESSMENT KEY</a:t>
            </a:r>
            <a:endParaRPr lang="en-US" altLang="en-US" sz="2000" b="1" i="0" u="none" strike="noStrike" cap="none" normalizeH="0" baseline="0">
              <a:ln>
                <a:noFill/>
              </a:ln>
              <a:effectLst/>
              <a:latin typeface="Arial"/>
              <a:cs typeface="Arial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1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Google Sans Text"/>
              </a:rPr>
              <a:t>Use this standard key to score your risks.</a:t>
            </a:r>
            <a:endParaRPr kumimoji="0" lang="en-US" altLang="en-US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577AAE8-44D0-1DFD-AEE4-7E34F525B456}"/>
              </a:ext>
            </a:extLst>
          </p:cNvPr>
          <p:cNvSpPr txBox="1"/>
          <p:nvPr/>
        </p:nvSpPr>
        <p:spPr>
          <a:xfrm>
            <a:off x="708388" y="5667712"/>
            <a:ext cx="6248400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cs typeface="Arial"/>
              </a:rPr>
              <a:t>Student Name: ___Daniel Wood________</a:t>
            </a:r>
          </a:p>
          <a:p>
            <a:r>
              <a:rPr lang="en-US" sz="2000" b="1" dirty="0">
                <a:latin typeface="Arial"/>
                <a:cs typeface="Arial"/>
              </a:rPr>
              <a:t>Role: _____</a:t>
            </a:r>
            <a:r>
              <a:rPr lang="en-US" sz="2000" b="1" dirty="0" err="1">
                <a:latin typeface="Arial"/>
                <a:cs typeface="Arial"/>
              </a:rPr>
              <a:t>Secruity</a:t>
            </a:r>
            <a:r>
              <a:rPr lang="en-US" sz="2000" b="1" dirty="0">
                <a:latin typeface="Arial"/>
                <a:cs typeface="Arial"/>
              </a:rPr>
              <a:t> Consultant_______</a:t>
            </a:r>
          </a:p>
          <a:p>
            <a:r>
              <a:rPr lang="en-US" sz="2000" b="1" dirty="0">
                <a:latin typeface="Arial"/>
                <a:cs typeface="Arial"/>
              </a:rPr>
              <a:t>Group Name: ____</a:t>
            </a:r>
            <a:r>
              <a:rPr lang="en-US" sz="2000" b="1" dirty="0" err="1">
                <a:latin typeface="Arial"/>
                <a:cs typeface="Arial"/>
              </a:rPr>
              <a:t>Codelaborators</a:t>
            </a:r>
            <a:r>
              <a:rPr lang="en-US" sz="2000" b="1" dirty="0">
                <a:latin typeface="Arial"/>
                <a:cs typeface="Arial"/>
              </a:rPr>
              <a:t>______</a:t>
            </a:r>
          </a:p>
        </p:txBody>
      </p:sp>
    </p:spTree>
    <p:extLst>
      <p:ext uri="{BB962C8B-B14F-4D97-AF65-F5344CB8AC3E}">
        <p14:creationId xmlns:p14="http://schemas.microsoft.com/office/powerpoint/2010/main" val="450016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1549E7E-C0E7-BA24-37B6-117584C53232}"/>
              </a:ext>
            </a:extLst>
          </p:cNvPr>
          <p:cNvSpPr txBox="1"/>
          <p:nvPr/>
        </p:nvSpPr>
        <p:spPr>
          <a:xfrm>
            <a:off x="832994" y="5058383"/>
            <a:ext cx="6099585" cy="181588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sz="2000" b="1">
                <a:solidFill>
                  <a:srgbClr val="FF0000"/>
                </a:solidFill>
                <a:latin typeface="Arial"/>
                <a:cs typeface="Arial"/>
              </a:rPr>
              <a:t>Risk Score = Likelihood x Impact</a:t>
            </a:r>
          </a:p>
          <a:p>
            <a:endParaRPr lang="en-GB" sz="2000" b="1">
              <a:solidFill>
                <a:srgbClr val="FF0000"/>
              </a:solidFill>
            </a:endParaRPr>
          </a:p>
          <a:p>
            <a:r>
              <a:rPr lang="en-GB" b="1"/>
              <a:t>1 - 4 (Low):</a:t>
            </a:r>
            <a:r>
              <a:rPr lang="en-GB"/>
              <a:t> Monitor.</a:t>
            </a:r>
          </a:p>
          <a:p>
            <a:r>
              <a:rPr lang="en-GB" b="1"/>
              <a:t>5 - 12 (Medium): </a:t>
            </a:r>
            <a:r>
              <a:rPr lang="en-GB"/>
              <a:t>Needs a Plan.</a:t>
            </a:r>
          </a:p>
          <a:p>
            <a:r>
              <a:rPr lang="en-GB" b="1"/>
              <a:t>15-25 (High):</a:t>
            </a:r>
            <a:r>
              <a:rPr lang="en-GB"/>
              <a:t> Requires immediate mitigation or test plan.</a:t>
            </a:r>
          </a:p>
          <a:p>
            <a:endParaRPr lang="en-US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34D38A-4F61-1811-D65E-58CA519293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7456150"/>
              </p:ext>
            </p:extLst>
          </p:nvPr>
        </p:nvGraphicFramePr>
        <p:xfrm>
          <a:off x="832994" y="1171131"/>
          <a:ext cx="11216731" cy="5577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721">
                  <a:extLst>
                    <a:ext uri="{9D8B030D-6E8A-4147-A177-3AD203B41FA5}">
                      <a16:colId xmlns:a16="http://schemas.microsoft.com/office/drawing/2014/main" val="3743172580"/>
                    </a:ext>
                  </a:extLst>
                </a:gridCol>
                <a:gridCol w="1343887">
                  <a:extLst>
                    <a:ext uri="{9D8B030D-6E8A-4147-A177-3AD203B41FA5}">
                      <a16:colId xmlns:a16="http://schemas.microsoft.com/office/drawing/2014/main" val="2787253486"/>
                    </a:ext>
                  </a:extLst>
                </a:gridCol>
                <a:gridCol w="2791405">
                  <a:extLst>
                    <a:ext uri="{9D8B030D-6E8A-4147-A177-3AD203B41FA5}">
                      <a16:colId xmlns:a16="http://schemas.microsoft.com/office/drawing/2014/main" val="1248510872"/>
                    </a:ext>
                  </a:extLst>
                </a:gridCol>
                <a:gridCol w="1357745">
                  <a:extLst>
                    <a:ext uri="{9D8B030D-6E8A-4147-A177-3AD203B41FA5}">
                      <a16:colId xmlns:a16="http://schemas.microsoft.com/office/drawing/2014/main" val="1636724309"/>
                    </a:ext>
                  </a:extLst>
                </a:gridCol>
                <a:gridCol w="1039090">
                  <a:extLst>
                    <a:ext uri="{9D8B030D-6E8A-4147-A177-3AD203B41FA5}">
                      <a16:colId xmlns:a16="http://schemas.microsoft.com/office/drawing/2014/main" val="2069697128"/>
                    </a:ext>
                  </a:extLst>
                </a:gridCol>
                <a:gridCol w="969818">
                  <a:extLst>
                    <a:ext uri="{9D8B030D-6E8A-4147-A177-3AD203B41FA5}">
                      <a16:colId xmlns:a16="http://schemas.microsoft.com/office/drawing/2014/main" val="640157157"/>
                    </a:ext>
                  </a:extLst>
                </a:gridCol>
                <a:gridCol w="3016065">
                  <a:extLst>
                    <a:ext uri="{9D8B030D-6E8A-4147-A177-3AD203B41FA5}">
                      <a16:colId xmlns:a16="http://schemas.microsoft.com/office/drawing/2014/main" val="2273363994"/>
                    </a:ext>
                  </a:extLst>
                </a:gridCol>
              </a:tblGrid>
              <a:tr h="805499"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latin typeface="Arial"/>
                        </a:rPr>
                        <a:t>Ref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rial"/>
                        </a:rPr>
                        <a:t>Risk Category</a:t>
                      </a:r>
                      <a:endParaRPr lang="en-US" b="1" i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rial"/>
                        </a:rPr>
                        <a:t>Risk Description / Threat</a:t>
                      </a:r>
                    </a:p>
                    <a:p>
                      <a:pPr lvl="0">
                        <a:buNone/>
                      </a:pPr>
                      <a:endParaRPr lang="en-US" b="1" i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noProof="0">
                          <a:solidFill>
                            <a:srgbClr val="FFFFFF"/>
                          </a:solidFill>
                          <a:latin typeface="Arial"/>
                        </a:rPr>
                        <a:t>Likelihood (1 – 5)</a:t>
                      </a:r>
                      <a:endParaRPr lang="en-US" b="1" i="0">
                        <a:latin typeface="Arial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Arial"/>
                        </a:rPr>
                        <a:t>Impact (1 – 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Arial"/>
                        </a:rPr>
                        <a:t>Total Score </a:t>
                      </a:r>
                    </a:p>
                    <a:p>
                      <a:pPr lvl="0">
                        <a:buNone/>
                      </a:pPr>
                      <a:r>
                        <a:rPr lang="en-US" b="1" i="0">
                          <a:latin typeface="Arial"/>
                        </a:rPr>
                        <a:t>(L * 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i="0">
                          <a:latin typeface="Arial"/>
                        </a:rPr>
                        <a:t>Proposed Mitigation for Sprint 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777276"/>
                  </a:ext>
                </a:extLst>
              </a:tr>
              <a:tr h="8054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R01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Missing Member of 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If someone is missing from a role, how will the role be filled?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Always a possibility, but multiple members of group covering roles.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2149408"/>
                  </a:ext>
                </a:extLst>
              </a:tr>
              <a:tr h="563850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Franklin Gothic Book"/>
                        </a:rPr>
                        <a:t>R02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Coding Errors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Issues with the code that create lack of function.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Easily correctable with testing.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1609696"/>
                  </a:ext>
                </a:extLst>
              </a:tr>
              <a:tr h="8054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>
                          <a:latin typeface="Franklin Gothic Book"/>
                        </a:rPr>
                        <a:t>R03</a:t>
                      </a:r>
                      <a:endParaRPr lang="en-US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Malicious software injection that can take peoples login data.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Huge possibility, repeated pen testing of the code to avert this is a priority.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46747703"/>
                  </a:ext>
                </a:extLst>
              </a:tr>
              <a:tr h="1288799"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800" b="1" i="0" u="none" strike="noStrike" noProof="0" dirty="0">
                          <a:latin typeface="Franklin Gothic Book"/>
                        </a:rPr>
                        <a:t>R04</a:t>
                      </a: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DDoS Web Crash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Overloading the app to cause a crash or inoperable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Preventative code writing to make sure this is not possible, but have a contingence to fix quickly if happens.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7120160"/>
                  </a:ext>
                </a:extLst>
              </a:tr>
              <a:tr h="322200">
                <a:tc>
                  <a:txBody>
                    <a:bodyPr/>
                    <a:lstStyle/>
                    <a:p>
                      <a:pPr lvl="0">
                        <a:buNone/>
                      </a:pPr>
                      <a:endParaRPr 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03683364"/>
                  </a:ext>
                </a:extLst>
              </a:tr>
              <a:tr h="3222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6756936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E4B1E069-E568-E3B1-18CB-F3FFBFA830A3}"/>
              </a:ext>
            </a:extLst>
          </p:cNvPr>
          <p:cNvSpPr txBox="1"/>
          <p:nvPr/>
        </p:nvSpPr>
        <p:spPr>
          <a:xfrm>
            <a:off x="1031862" y="109029"/>
            <a:ext cx="10819797" cy="160279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200" b="1">
                <a:latin typeface="Arial"/>
                <a:ea typeface="+mn-lt"/>
                <a:cs typeface="+mn-lt"/>
              </a:rPr>
              <a:t>Identify 3-5 Key Risks Specific to Your Role that Could Affect the Final Project. </a:t>
            </a:r>
            <a:endParaRPr lang="en-US" sz="3200" b="1">
              <a:latin typeface="Arial"/>
              <a:cs typeface="Arial"/>
            </a:endParaRPr>
          </a:p>
          <a:p>
            <a:pPr algn="ctr"/>
            <a:endParaRPr lang="en-US" sz="3200" b="1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87148654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0</TotalTime>
  <Words>303</Words>
  <Application>Microsoft Office PowerPoint</Application>
  <PresentationFormat>Widescreen</PresentationFormat>
  <Paragraphs>60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Aharoni</vt:lpstr>
      <vt:lpstr>Arial</vt:lpstr>
      <vt:lpstr>Franklin Gothic Book</vt:lpstr>
      <vt:lpstr>Google Sans Text</vt:lpstr>
      <vt:lpstr>Crop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Krukrubo, Lawrence</dc:creator>
  <cp:lastModifiedBy>Wood, Daniel J.</cp:lastModifiedBy>
  <cp:revision>2</cp:revision>
  <dcterms:created xsi:type="dcterms:W3CDTF">2025-12-22T20:48:00Z</dcterms:created>
  <dcterms:modified xsi:type="dcterms:W3CDTF">2026-02-09T15:44:37Z</dcterms:modified>
</cp:coreProperties>
</file>